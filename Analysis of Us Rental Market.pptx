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5"/>
    <p:restoredTop sz="84110"/>
  </p:normalViewPr>
  <p:slideViewPr>
    <p:cSldViewPr snapToGrid="0">
      <p:cViewPr varScale="1">
        <p:scale>
          <a:sx n="80" d="100"/>
          <a:sy n="80" d="100"/>
        </p:scale>
        <p:origin x="102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3B696-7300-B942-95CD-6BA9CF4A8F92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5648A-C2B9-8645-80D9-3CB953981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6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02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Sports amenities include: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Gym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Tennis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Basketball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Golf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Outdoor amenities include: Patio/Deck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Clubhouse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Playground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Convenience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amenities include: Parking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Garbage Disposal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Washer Dryer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Elevator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Dishwasher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Storage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Gated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Refrigerator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Cable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or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Satellite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Internet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 amenities include: Fireplace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Wood Floors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Doorman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Hot Tub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Sports amenities include: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Gym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Tennis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Basketball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Golf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Outdoor amenities include: Patio/Deck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Clubhouse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Playground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Convenience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amenities include: Parking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Garbage Disposal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Washer Dryer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Elevator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Dishwasher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Storage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Gated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Refrigerator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Cable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or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Satellite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Internet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 amenities include: Fireplace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Wood Floors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Doorman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Hot Tub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6126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50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15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0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26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527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68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62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90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66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2643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58D2E-84BF-0A44-9057-4674209F9D8F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30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8A40-4EFF-8D42-6CAF-1C6157686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719" y="802298"/>
            <a:ext cx="9078134" cy="2541431"/>
          </a:xfrm>
        </p:spPr>
        <p:txBody>
          <a:bodyPr>
            <a:normAutofit/>
          </a:bodyPr>
          <a:lstStyle/>
          <a:p>
            <a:r>
              <a:rPr lang="en-US" sz="3200" dirty="0"/>
              <a:t xml:space="preserve"> Analysis of the U.S. Apartment Rental Market: Identifying Key Segments and Characteristics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61BAB-50F7-9A48-0627-72A638D4C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Ella Ndalla</a:t>
            </a:r>
          </a:p>
        </p:txBody>
      </p:sp>
    </p:spTree>
    <p:extLst>
      <p:ext uri="{BB962C8B-B14F-4D97-AF65-F5344CB8AC3E}">
        <p14:creationId xmlns:p14="http://schemas.microsoft.com/office/powerpoint/2010/main" val="143177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6A5F-696D-CD1C-0947-C59AEB5A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F19D2-69DB-9D47-1A74-8BA84E1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Objectives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Data Source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Feature Engineering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Machine Learning Methods: </a:t>
            </a:r>
            <a:r>
              <a:rPr lang="en-US" dirty="0" err="1"/>
              <a:t>KMeans</a:t>
            </a:r>
            <a:r>
              <a:rPr lang="en-US" dirty="0"/>
              <a:t xml:space="preserve"> Clustering, PCA analysis , </a:t>
            </a: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Methodology Analysis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Results and Business Insights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104307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CC32-6F2F-7665-4622-793A0AAA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A8E7-01F4-74E7-E5A2-119468BB4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25965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Understand the US apartment rental market to uncover rental segments and their features.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Provide insights to real estate developers and investors about: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Consumer demands (i.e. desired price and amenities)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Future investments for each segment ( i.e. new constructions, existing modifications)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9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6559-9ACD-04C2-7A19-18089A06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Data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0038-D520-D607-A176-E1761607F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University of Irvine, Machine Learning repository.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dataset consists of a listing of apartments for rent in the United States in Pre-Pandemic era(i.e. as of 12/25/2019)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432FF"/>
                </a:solidFill>
              </a:rPr>
              <a:t>Source</a:t>
            </a:r>
            <a:r>
              <a:rPr lang="en-US" dirty="0"/>
              <a:t>: https://</a:t>
            </a:r>
            <a:r>
              <a:rPr lang="en-US" dirty="0" err="1"/>
              <a:t>archive.ics.uci.edu</a:t>
            </a:r>
            <a:r>
              <a:rPr lang="en-US" dirty="0"/>
              <a:t>/dataset/555/</a:t>
            </a:r>
            <a:r>
              <a:rPr lang="en-US" dirty="0" err="1"/>
              <a:t>apartment+for+rent+classified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9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9FF7-D0DA-F23E-59D4-EFE99963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BB32F-9978-1EFD-A8BE-33A333C9C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2"/>
            <a:ext cx="4645152" cy="36545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Used encoding techniques to transform Boolean data such as “has Photo” or “has fee</a:t>
            </a:r>
          </a:p>
          <a:p>
            <a:r>
              <a:rPr lang="en-US" dirty="0"/>
              <a:t>Used “Get dummies” technique to transform apartment category column.  The dataset generated 60 distinctive apartment categories.</a:t>
            </a:r>
          </a:p>
          <a:p>
            <a:r>
              <a:rPr lang="en-US" dirty="0"/>
              <a:t xml:space="preserve">Used </a:t>
            </a:r>
            <a:r>
              <a:rPr lang="en-US" dirty="0" err="1"/>
              <a:t>StandardScaler</a:t>
            </a:r>
            <a:r>
              <a:rPr lang="en-US" dirty="0"/>
              <a:t xml:space="preserve"> method to scale numerical columns such as price, square feet, latitude and longitude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46287-FF89-5935-22CF-81268608D6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Created categories of apartments for rent  based on the number of bedroom and bathroom for each unit.</a:t>
            </a:r>
          </a:p>
          <a:p>
            <a:r>
              <a:rPr lang="en-US" dirty="0"/>
              <a:t>Broke down the amenities column into 4 distinct categories of amenities based on the number of occurrence (i.e. outdoor, sports, luxury, convenience ) and added 4 new column to the dataset.</a:t>
            </a:r>
          </a:p>
          <a:p>
            <a:r>
              <a:rPr lang="en-US" dirty="0"/>
              <a:t>Normalized the price column (converted weekly listings into monthly rental prices)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8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1955-199D-5D4F-8207-AFE3CF13D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49BB-29ED-B69C-7867-2865B372C4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Kmeans</a:t>
            </a:r>
            <a:r>
              <a:rPr lang="en-US" dirty="0"/>
              <a:t xml:space="preserve"> Clustering : 2 clusters identified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BDAA3C-F8FC-68F2-A078-7E14A6859D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4114" y="2310715"/>
            <a:ext cx="4645152" cy="3448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39C0B7-AEE4-A625-579D-44A1510F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90" y="2466535"/>
            <a:ext cx="5396444" cy="34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9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22DC-B570-F3A1-7E53-01E2D7FF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808381"/>
          </a:xfrm>
        </p:spPr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CFB8-3B41-A4BC-6DAA-3A00DEBE0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740421" cy="403774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 xml:space="preserve">Principal Components Analysis : </a:t>
            </a:r>
            <a:r>
              <a:rPr lang="en-US" dirty="0" err="1"/>
              <a:t>pca.explained_variance_ratio</a:t>
            </a:r>
            <a:r>
              <a:rPr lang="en-US" dirty="0"/>
              <a:t>_ =69%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1E932-88D7-AE77-942F-8B470B782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478689"/>
            <a:ext cx="4168686" cy="3334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DAD0E-E865-4039-D626-97F902A2D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31" y="2478689"/>
            <a:ext cx="5837340" cy="33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3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0716-B1FB-1FE0-C1F0-A5A63DF8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D69F1-4FA9-706B-4F27-01E36A40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500015" cy="403774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to determine feature importance on PCA method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B4370-B129-CD85-1B2F-6E2FAFED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91" y="2392803"/>
            <a:ext cx="5748503" cy="358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1C1F46-933B-3CB9-4B8D-B5E35612A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2438400"/>
            <a:ext cx="4537331" cy="326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51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AA9A-B7BD-E032-BB45-9DC322BA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062A3-61C7-8A0A-FEA6-CD8ABB5D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to determine feature importance on </a:t>
            </a:r>
            <a:r>
              <a:rPr lang="en-US" dirty="0" err="1"/>
              <a:t>KMeans</a:t>
            </a:r>
            <a:r>
              <a:rPr lang="en-US" dirty="0"/>
              <a:t xml:space="preserve"> method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98B69-3BDC-0A3C-CB7E-91A4ADCA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374490"/>
            <a:ext cx="809062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51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675B4-53B9-03AE-92A6-E6C3D6E5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D5EA2-8CEC-A06B-A2DF-722A5D04F75F}"/>
              </a:ext>
            </a:extLst>
          </p:cNvPr>
          <p:cNvSpPr txBox="1"/>
          <p:nvPr/>
        </p:nvSpPr>
        <p:spPr>
          <a:xfrm>
            <a:off x="659302" y="3531204"/>
            <a:ext cx="2823919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1600" cap="all" dirty="0"/>
              <a:t>https://ellac12345.github.io/</a:t>
            </a:r>
            <a:r>
              <a:rPr lang="en-US" sz="1600" cap="all"/>
              <a:t>US_Rental_Market</a:t>
            </a:r>
            <a:r>
              <a:rPr lang="en-US" sz="1600" cap="all" dirty="0"/>
              <a:t>/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01E4170-A488-42AF-B481-A98058F0B7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19" r="-2" b="1110"/>
          <a:stretch>
            <a:fillRect/>
          </a:stretch>
        </p:blipFill>
        <p:spPr>
          <a:xfrm>
            <a:off x="4618374" y="1116345"/>
            <a:ext cx="6282919" cy="3866172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10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DDB9-1B03-598B-641A-574737C1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 xml:space="preserve">Results </a:t>
            </a:r>
            <a:r>
              <a:rPr lang="en-US" sz="2000" dirty="0"/>
              <a:t xml:space="preserve">cont’d :   </a:t>
            </a:r>
            <a:r>
              <a:rPr lang="en-US" sz="3600" dirty="0"/>
              <a:t>Cluster 0: Essential Rentals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047B-EF3A-3F17-50EE-4BB171566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/>
              <a:t>Larger cluster: 81,312 properties (82% of total); concurs with PCA analysis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 xml:space="preserve">Rental Price: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Average: $1,550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$1,375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$52,500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$100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Square Footage: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905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40,000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101 sq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Luxury Amenities Count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A9477-40A5-7AFC-3F0E-FB14BFDE57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Sports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Convenience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Outdoor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 xml:space="preserve">Maximum: </a:t>
            </a:r>
            <a:r>
              <a:rPr lang="en-US" dirty="0"/>
              <a:t>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Minimum: 0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DDB9-1B03-598B-641A-574737C1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 xml:space="preserve">Results </a:t>
            </a:r>
            <a:r>
              <a:rPr lang="en-US" sz="2000" dirty="0"/>
              <a:t xml:space="preserve">cont’d    </a:t>
            </a:r>
            <a:r>
              <a:rPr lang="en-US" sz="3600" dirty="0"/>
              <a:t>Cluster 1: Amenity-Packed Rentals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047B-EF3A-3F17-50EE-4BB171566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/>
              <a:t>Smaller cluster: 17,877 properties (18% of total); concurs with PCA analysis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 xml:space="preserve">Rental Price: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Average: $1,415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$1,250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$11,500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$285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Square Footage: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880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4,911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116 sq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Luxury Amenities Count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A9477-40A5-7AFC-3F0E-FB14BFDE57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Sports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Convenience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10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3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Outdoor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Minimum: 0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4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1F57C3-C01F-8882-524F-F05411F8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CF2E2-45AD-8BEA-F7FC-1AB49B06C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American rental markets can be broken into 2 segments: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Cluster 0 (Essential Rentals): spacious apartments with fewer amenities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Cluster 1 (Amenity-Packed Rentals): smaller apartments with more amenities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Large metropolitan areas represent both segments based on neighborhoods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Cluster 1 (Amenity-Packed) properties are concentrated in the Northeast region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Some cities represent one segment exclusively: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San Diego, CA – predominantly Cluster 0 (91%)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South Boston, MA –</a:t>
            </a:r>
            <a:r>
              <a:rPr lang="en-US" sz="2100" dirty="0"/>
              <a:t xml:space="preserve"> exclusively Cluster 1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8183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allery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777</Words>
  <Application>Microsoft Macintosh PowerPoint</Application>
  <PresentationFormat>Widescreen</PresentationFormat>
  <Paragraphs>131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Gill Sans MT</vt:lpstr>
      <vt:lpstr>Wingdings</vt:lpstr>
      <vt:lpstr>Gallery</vt:lpstr>
      <vt:lpstr> Analysis of the U.S. Apartment Rental Market: Identifying Key Segments and Characteristics</vt:lpstr>
      <vt:lpstr>Overview</vt:lpstr>
      <vt:lpstr>Objectives</vt:lpstr>
      <vt:lpstr>Data Source </vt:lpstr>
      <vt:lpstr>Feature Engineering</vt:lpstr>
      <vt:lpstr>Machine Learning Methods</vt:lpstr>
      <vt:lpstr>Machine Learning Methods cont’d</vt:lpstr>
      <vt:lpstr>Machine Learning Methods cont’d</vt:lpstr>
      <vt:lpstr>Machine Learning Methods cont’d</vt:lpstr>
      <vt:lpstr>Results</vt:lpstr>
      <vt:lpstr>Results cont’d :   Premium Cluster ANALYSIS </vt:lpstr>
      <vt:lpstr>Results cont’d    CLUSTER 0 ANALYSIS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</dc:title>
  <dc:creator>Ella Ndalla</dc:creator>
  <cp:lastModifiedBy>Ella Ndalla</cp:lastModifiedBy>
  <cp:revision>8</cp:revision>
  <dcterms:created xsi:type="dcterms:W3CDTF">2023-11-24T21:59:57Z</dcterms:created>
  <dcterms:modified xsi:type="dcterms:W3CDTF">2026-03-03T14:54:48Z</dcterms:modified>
</cp:coreProperties>
</file>