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514"/>
    <p:restoredTop sz="84110"/>
  </p:normalViewPr>
  <p:slideViewPr>
    <p:cSldViewPr snapToGrid="0">
      <p:cViewPr varScale="1">
        <p:scale>
          <a:sx n="106" d="100"/>
          <a:sy n="106" d="100"/>
        </p:scale>
        <p:origin x="7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13B696-7300-B942-95CD-6BA9CF4A8F92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25648A-C2B9-8645-80D9-3CB9539813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2262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25648A-C2B9-8645-80D9-3CB95398132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202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Sports amenities include: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Pool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Gym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Tennis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Basketball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Golf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Outdoor amenities include: Patio/Deck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Clubhouse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Playground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Convenience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amenities include: Parking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Garbage Disposal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Washer Dryer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AC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Elevator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Dishwasher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Storage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Gated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Refrigerator</a:t>
            </a:r>
            <a:r>
              <a:rPr lang="en-US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  <a:r>
              <a:rPr lang="en-US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Cable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 or </a:t>
            </a:r>
            <a:r>
              <a:rPr lang="en-US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Satellite</a:t>
            </a:r>
            <a:r>
              <a:rPr lang="en-US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  <a:r>
              <a:rPr lang="en-US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Internet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 Access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Luxury amenities include: Fireplace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Wood Floors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View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Doorman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Luxury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Hot Tub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dirty="0">
              <a:solidFill>
                <a:srgbClr val="A31515"/>
              </a:solidFill>
              <a:effectLst/>
              <a:latin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25648A-C2B9-8645-80D9-3CB95398132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483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Sports amenities include: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Pool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Gym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Tennis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Basketball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Golf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Outdoor amenities include: Patio/Deck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Clubhouse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Playground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Convenience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amenities include: Parking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Garbage Disposal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Washer Dryer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AC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Elevator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Dishwasher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Storage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Gated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Refrigerator</a:t>
            </a:r>
            <a:r>
              <a:rPr lang="en-US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  <a:r>
              <a:rPr lang="en-US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Cable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 or </a:t>
            </a:r>
            <a:r>
              <a:rPr lang="en-US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Satellite</a:t>
            </a:r>
            <a:r>
              <a:rPr lang="en-US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  <a:r>
              <a:rPr lang="en-US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Internet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 Access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Luxury amenities include: Fireplace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Wood Floors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View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Doorman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Luxury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Hot Tub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dirty="0">
              <a:solidFill>
                <a:srgbClr val="A31515"/>
              </a:solidFill>
              <a:effectLst/>
              <a:latin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25648A-C2B9-8645-80D9-3CB95398132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261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58D2E-84BF-0A44-9057-4674209F9D8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197CE70E-E233-BC4F-9C47-AB39D3716129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45076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58D2E-84BF-0A44-9057-4674209F9D8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7CE70E-E233-BC4F-9C47-AB39D3716129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1158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58D2E-84BF-0A44-9057-4674209F9D8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7CE70E-E233-BC4F-9C47-AB39D3716129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70717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58D2E-84BF-0A44-9057-4674209F9D8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7CE70E-E233-BC4F-9C47-AB39D3716129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0261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58D2E-84BF-0A44-9057-4674209F9D8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7CE70E-E233-BC4F-9C47-AB39D3716129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55271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58D2E-84BF-0A44-9057-4674209F9D8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7CE70E-E233-BC4F-9C47-AB39D3716129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689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58D2E-84BF-0A44-9057-4674209F9D8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7CE70E-E233-BC4F-9C47-AB39D37161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714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58D2E-84BF-0A44-9057-4674209F9D8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7CE70E-E233-BC4F-9C47-AB39D3716129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06261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0CC58D2E-84BF-0A44-9057-4674209F9D8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7CE70E-E233-BC4F-9C47-AB39D3716129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9009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58D2E-84BF-0A44-9057-4674209F9D8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7CE70E-E233-BC4F-9C47-AB39D3716129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9667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58D2E-84BF-0A44-9057-4674209F9D8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7CE70E-E233-BC4F-9C47-AB39D3716129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82643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58D2E-84BF-0A44-9057-4674209F9D8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197CE70E-E233-BC4F-9C47-AB39D3716129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1300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C8A40-4EFF-8D42-6CAF-1C61576865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76719" y="802298"/>
            <a:ext cx="9078134" cy="2541431"/>
          </a:xfrm>
        </p:spPr>
        <p:txBody>
          <a:bodyPr>
            <a:normAutofit/>
          </a:bodyPr>
          <a:lstStyle/>
          <a:p>
            <a:r>
              <a:rPr lang="en-US" sz="3200" dirty="0"/>
              <a:t> Analysis of the U.S. Apartment Rental Market: Identifying Key Segments and Characteristics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F61BAB-50F7-9A48-0627-72A638D4C0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Ella Ndalla</a:t>
            </a:r>
          </a:p>
        </p:txBody>
      </p:sp>
    </p:spTree>
    <p:extLst>
      <p:ext uri="{BB962C8B-B14F-4D97-AF65-F5344CB8AC3E}">
        <p14:creationId xmlns:p14="http://schemas.microsoft.com/office/powerpoint/2010/main" val="14317713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A6A5F-696D-CD1C-0947-C59AEB5AE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F19D2-69DB-9D47-1A74-8BA84E1438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itchFamily="2" charset="2"/>
              <a:buChar char="q"/>
            </a:pPr>
            <a:r>
              <a:rPr lang="en-US" dirty="0"/>
              <a:t>Objectives</a:t>
            </a:r>
          </a:p>
          <a:p>
            <a:pPr>
              <a:buFont typeface="Wingdings" pitchFamily="2" charset="2"/>
              <a:buChar char="q"/>
            </a:pPr>
            <a:r>
              <a:rPr lang="en-US" dirty="0"/>
              <a:t>Data Source</a:t>
            </a:r>
          </a:p>
          <a:p>
            <a:pPr>
              <a:buFont typeface="Wingdings" pitchFamily="2" charset="2"/>
              <a:buChar char="q"/>
            </a:pPr>
            <a:r>
              <a:rPr lang="en-US" dirty="0"/>
              <a:t>Feature Engineering</a:t>
            </a:r>
          </a:p>
          <a:p>
            <a:pPr>
              <a:buFont typeface="Wingdings" pitchFamily="2" charset="2"/>
              <a:buChar char="q"/>
            </a:pPr>
            <a:r>
              <a:rPr lang="en-US" dirty="0"/>
              <a:t>Machine Learning Methods: </a:t>
            </a:r>
            <a:r>
              <a:rPr lang="en-US" dirty="0" err="1"/>
              <a:t>KMeans</a:t>
            </a:r>
            <a:r>
              <a:rPr lang="en-US" dirty="0"/>
              <a:t> Clustering, PCA analysis , </a:t>
            </a:r>
            <a:r>
              <a:rPr lang="en-US" dirty="0" err="1"/>
              <a:t>Pycaret</a:t>
            </a:r>
            <a:r>
              <a:rPr lang="en-US" dirty="0"/>
              <a:t> and </a:t>
            </a:r>
            <a:r>
              <a:rPr lang="en-US" dirty="0" err="1"/>
              <a:t>XGboost</a:t>
            </a:r>
            <a:r>
              <a:rPr lang="en-US" dirty="0"/>
              <a:t> </a:t>
            </a:r>
          </a:p>
          <a:p>
            <a:pPr>
              <a:buFont typeface="Wingdings" pitchFamily="2" charset="2"/>
              <a:buChar char="q"/>
            </a:pPr>
            <a:r>
              <a:rPr lang="en-US" dirty="0"/>
              <a:t>Methodology Analysis </a:t>
            </a:r>
          </a:p>
          <a:p>
            <a:pPr>
              <a:buFont typeface="Wingdings" pitchFamily="2" charset="2"/>
              <a:buChar char="q"/>
            </a:pPr>
            <a:r>
              <a:rPr lang="en-US" dirty="0"/>
              <a:t>Results and Business Insights</a:t>
            </a:r>
          </a:p>
          <a:p>
            <a:pPr>
              <a:buFont typeface="Wingdings" pitchFamily="2" charset="2"/>
              <a:buChar char="q"/>
            </a:pPr>
            <a:r>
              <a:rPr lang="en-US" dirty="0"/>
              <a:t> Q&amp;A session</a:t>
            </a:r>
          </a:p>
        </p:txBody>
      </p:sp>
    </p:spTree>
    <p:extLst>
      <p:ext uri="{BB962C8B-B14F-4D97-AF65-F5344CB8AC3E}">
        <p14:creationId xmlns:p14="http://schemas.microsoft.com/office/powerpoint/2010/main" val="10430717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2CC32-6F2F-7665-4622-793A0AAA4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BBA8E7-01F4-74E7-E5A2-119468BB41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259653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q"/>
            </a:pPr>
            <a:r>
              <a:rPr lang="en-US" dirty="0"/>
              <a:t>Understand the US apartment rental market to uncover rental segments and their features.</a:t>
            </a:r>
          </a:p>
          <a:p>
            <a:pPr>
              <a:buFont typeface="Wingdings" pitchFamily="2" charset="2"/>
              <a:buChar char="q"/>
            </a:pPr>
            <a:r>
              <a:rPr lang="en-US" dirty="0"/>
              <a:t>Provide insights to real estate developers and investors about: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Consumer demands (i.e. desired price and amenities)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Future investments for each segment ( i.e. new constructions, existing modifications)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15943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96559-9ACD-04C2-7A19-18089A064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Source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B00038-D520-D607-A176-E1761607FB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Char char="q"/>
            </a:pPr>
            <a:r>
              <a:rPr lang="en-US" dirty="0"/>
              <a:t>University of Irvine, Machine Learning repository.</a:t>
            </a:r>
          </a:p>
          <a:p>
            <a:pPr>
              <a:buFont typeface="Wingdings" pitchFamily="2" charset="2"/>
              <a:buChar char="q"/>
            </a:pPr>
            <a:r>
              <a:rPr lang="en-US" dirty="0"/>
              <a:t>The dataset consists of a listing of apartments for rent in the United States in Pre-Pandemic era(i.e. as of 12/25/2019)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432FF"/>
                </a:solidFill>
              </a:rPr>
              <a:t>Source</a:t>
            </a:r>
            <a:r>
              <a:rPr lang="en-US" dirty="0"/>
              <a:t>: https://</a:t>
            </a:r>
            <a:r>
              <a:rPr lang="en-US" dirty="0" err="1"/>
              <a:t>archive.ics.uci.edu</a:t>
            </a:r>
            <a:r>
              <a:rPr lang="en-US" dirty="0"/>
              <a:t>/dataset/555/</a:t>
            </a:r>
            <a:r>
              <a:rPr lang="en-US" dirty="0" err="1"/>
              <a:t>apartment+for+rent+classified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17905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79FF7-D0DA-F23E-59D4-EFE999632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Feature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0BB32F-9978-1EFD-A8BE-33A333C9C2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13771" y="2017342"/>
            <a:ext cx="4645152" cy="36545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Used encoding techniques to transform Boolean data such as “has Photo” or “has fee</a:t>
            </a:r>
          </a:p>
          <a:p>
            <a:r>
              <a:rPr lang="en-US" dirty="0"/>
              <a:t>Used “Get dummies” technique to transform apartment category column.  The dataset generated 60 distinctive apartment categories.</a:t>
            </a:r>
          </a:p>
          <a:p>
            <a:r>
              <a:rPr lang="en-US" dirty="0"/>
              <a:t>Used </a:t>
            </a:r>
            <a:r>
              <a:rPr lang="en-US" dirty="0" err="1"/>
              <a:t>StandardScaler</a:t>
            </a:r>
            <a:r>
              <a:rPr lang="en-US" dirty="0"/>
              <a:t> method to scale numerical columns such as price, square feet, latitude and longitude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A46287-FF89-5935-22CF-81268608D6A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Created categories of apartments for rent  based on the number of bedroom and bathroom for each unit.</a:t>
            </a:r>
          </a:p>
          <a:p>
            <a:r>
              <a:rPr lang="en-US" dirty="0"/>
              <a:t>Broke down the amenities column into 4 distinct categories of amenities based on the number of occurrence (i.e. outdoor, sports, luxury, convenience ) and added 4 new column to the dataset.</a:t>
            </a:r>
          </a:p>
          <a:p>
            <a:r>
              <a:rPr lang="en-US" dirty="0"/>
              <a:t>Normalized the price column (converted weekly listings into monthly rental prices)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01800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A1955-199D-5D4F-8207-AFE3CF13D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Machine Learning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D49BB-29ED-B69C-7867-2865B372C4D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buFont typeface="Wingdings" pitchFamily="2" charset="2"/>
              <a:buChar char="q"/>
            </a:pPr>
            <a:r>
              <a:rPr lang="en-US" dirty="0" err="1"/>
              <a:t>Kmeans</a:t>
            </a:r>
            <a:r>
              <a:rPr lang="en-US" dirty="0"/>
              <a:t> Clustering : 2 clusters identified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DBDAA3C-F8FC-68F2-A078-7E14A6859DB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494114" y="2310715"/>
            <a:ext cx="4645152" cy="344859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A39C0B7-AEE4-A625-579D-44A1510FE1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90" y="2466535"/>
            <a:ext cx="5396444" cy="3448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793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722DC-B570-F3A1-7E53-01E2D7FF3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808381"/>
          </a:xfrm>
        </p:spPr>
        <p:txBody>
          <a:bodyPr/>
          <a:lstStyle/>
          <a:p>
            <a:r>
              <a:rPr lang="en-US" dirty="0"/>
              <a:t>Machine Learning Methods </a:t>
            </a:r>
            <a:r>
              <a:rPr lang="en-US" sz="2000" dirty="0"/>
              <a:t>cont’d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9FCFB8-3B41-A4BC-6DAA-3A00DEBE0F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10740421" cy="4037749"/>
          </a:xfrm>
        </p:spPr>
        <p:txBody>
          <a:bodyPr/>
          <a:lstStyle/>
          <a:p>
            <a:pPr>
              <a:buFont typeface="Wingdings" pitchFamily="2" charset="2"/>
              <a:buChar char="q"/>
            </a:pPr>
            <a:r>
              <a:rPr lang="en-US" dirty="0"/>
              <a:t>Principal Components Analysis : </a:t>
            </a:r>
            <a:r>
              <a:rPr lang="en-US" dirty="0" err="1"/>
              <a:t>pca.explained_variance_ratio</a:t>
            </a:r>
            <a:r>
              <a:rPr lang="en-US" dirty="0"/>
              <a:t>_ =69%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F1E932-88D7-AE77-942F-8B470B7827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579" y="2478689"/>
            <a:ext cx="4168686" cy="33340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BDAD0E-E865-4039-D626-97F902A2D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8131" y="2478689"/>
            <a:ext cx="5837340" cy="3334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7316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D0716-B1FB-1FE0-C1F0-A5A63DF81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Methods </a:t>
            </a:r>
            <a:r>
              <a:rPr lang="en-US" sz="2000" dirty="0"/>
              <a:t>cont’d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6D69F1-4FA9-706B-4F27-01E36A4006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10500015" cy="4037749"/>
          </a:xfrm>
        </p:spPr>
        <p:txBody>
          <a:bodyPr/>
          <a:lstStyle/>
          <a:p>
            <a:pPr>
              <a:buFont typeface="Wingdings" pitchFamily="2" charset="2"/>
              <a:buChar char="q"/>
            </a:pPr>
            <a:r>
              <a:rPr lang="en-US" dirty="0" err="1"/>
              <a:t>Pycaret</a:t>
            </a:r>
            <a:r>
              <a:rPr lang="en-US" dirty="0"/>
              <a:t> and </a:t>
            </a:r>
            <a:r>
              <a:rPr lang="en-US" dirty="0" err="1"/>
              <a:t>XgBoost</a:t>
            </a:r>
            <a:r>
              <a:rPr lang="en-US" dirty="0"/>
              <a:t> to determine feature importance on PCA method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0B4370-B129-CD85-1B2F-6E2FAFED61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3091" y="2392803"/>
            <a:ext cx="5748503" cy="35834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41C1F46-933B-3CB9-4B8D-B5E35612AB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1579" y="2438400"/>
            <a:ext cx="4537331" cy="3269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0510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7AA9A-B7BD-E032-BB45-9DC322BA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Methods </a:t>
            </a:r>
            <a:r>
              <a:rPr lang="en-US" sz="2000" dirty="0"/>
              <a:t>cont’d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4062A3-61C7-8A0A-FEA6-CD8ABB5DC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Char char="q"/>
            </a:pPr>
            <a:r>
              <a:rPr lang="en-US" dirty="0" err="1"/>
              <a:t>Pycaret</a:t>
            </a:r>
            <a:r>
              <a:rPr lang="en-US" dirty="0"/>
              <a:t> and </a:t>
            </a:r>
            <a:r>
              <a:rPr lang="en-US" dirty="0" err="1"/>
              <a:t>XgBoost</a:t>
            </a:r>
            <a:r>
              <a:rPr lang="en-US" dirty="0"/>
              <a:t> to determine feature importance on </a:t>
            </a:r>
            <a:r>
              <a:rPr lang="en-US" dirty="0" err="1"/>
              <a:t>KMeans</a:t>
            </a:r>
            <a:r>
              <a:rPr lang="en-US" dirty="0"/>
              <a:t> method</a:t>
            </a:r>
          </a:p>
          <a:p>
            <a:pPr>
              <a:buFont typeface="Wingdings" pitchFamily="2" charset="2"/>
              <a:buChar char="q"/>
            </a:pPr>
            <a:endParaRPr lang="en-US" dirty="0"/>
          </a:p>
          <a:p>
            <a:pPr>
              <a:buFont typeface="Wingdings" pitchFamily="2" charset="2"/>
              <a:buChar char="q"/>
            </a:pP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D98B69-3BDC-0A3C-CB7E-91A4ADCAC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579" y="2374490"/>
            <a:ext cx="8090627" cy="3450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7517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angle 100">
            <a:extLst>
              <a:ext uri="{FF2B5EF4-FFF2-40B4-BE49-F238E27FC236}">
                <a16:creationId xmlns:a16="http://schemas.microsoft.com/office/drawing/2014/main" id="{1CE580D1-F917-4567-AFB4-99AA9B52A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1F5620B8-A2D8-4568-B566-F0453A0D91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1C7D2BA4-4B7A-4596-8BCC-5CF7154238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4977F1E1-2B6F-4BB6-899F-67D8764D83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109" name="Rectangle 108">
            <a:extLst>
              <a:ext uri="{FF2B5EF4-FFF2-40B4-BE49-F238E27FC236}">
                <a16:creationId xmlns:a16="http://schemas.microsoft.com/office/drawing/2014/main" id="{EC17D08F-2133-44A9-B28C-CB29928FA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0CC36881-E309-4C41-8B5B-203AADC15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2675B4-53B9-03AE-92A6-E6C3D6E55C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301" y="1474969"/>
            <a:ext cx="2823919" cy="1868760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 dirty="0"/>
              <a:t>Results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2D5EA2-8CEC-A06B-A2DF-722A5D04F75F}"/>
              </a:ext>
            </a:extLst>
          </p:cNvPr>
          <p:cNvSpPr txBox="1"/>
          <p:nvPr/>
        </p:nvSpPr>
        <p:spPr>
          <a:xfrm>
            <a:off x="659302" y="3531204"/>
            <a:ext cx="2823919" cy="1610643"/>
          </a:xfrm>
          <a:prstGeom prst="rect">
            <a:avLst/>
          </a:prstGeom>
        </p:spPr>
        <p:txBody>
          <a:bodyPr vert="horz" lIns="91440" tIns="91440" rIns="91440" bIns="91440" rtlCol="0">
            <a:normAutofit/>
          </a:bodyPr>
          <a:lstStyle/>
          <a:p>
            <a:pPr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00000"/>
            </a:pPr>
            <a:r>
              <a:rPr lang="en-US" sz="1600" cap="all" dirty="0"/>
              <a:t>https://ellan12-us-rental-market-srcapp-ujvkpx.streamlit.app/</a:t>
            </a:r>
          </a:p>
        </p:txBody>
      </p: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84F2C6A8-7D46-49EA-860B-0F0B020843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59301" y="3528543"/>
            <a:ext cx="2823919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ED92372-F778-4E96-9E90-4E63BAF3CA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979389" y="482171"/>
            <a:ext cx="7560115" cy="5149101"/>
            <a:chOff x="7463258" y="583365"/>
            <a:chExt cx="7560115" cy="5181928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B4EC089-8B60-43F4-9BF5-1F0B0E398E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3258" y="583365"/>
              <a:ext cx="7560115" cy="5181928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1C0BAC91-1725-4E5A-92CE-F5A2EB066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776317" y="915807"/>
              <a:ext cx="6928279" cy="4494927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501E4170-A488-42AF-B481-A98058F0B71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219" r="-2" b="1110"/>
          <a:stretch>
            <a:fillRect/>
          </a:stretch>
        </p:blipFill>
        <p:spPr>
          <a:xfrm>
            <a:off x="4618374" y="1116345"/>
            <a:ext cx="6282919" cy="3866172"/>
          </a:xfrm>
          <a:prstGeom prst="rect">
            <a:avLst/>
          </a:prstGeom>
        </p:spPr>
      </p:pic>
      <p:pic>
        <p:nvPicPr>
          <p:cNvPr id="119" name="Picture 118">
            <a:extLst>
              <a:ext uri="{FF2B5EF4-FFF2-40B4-BE49-F238E27FC236}">
                <a16:creationId xmlns:a16="http://schemas.microsoft.com/office/drawing/2014/main" id="{4B61EBEC-D0CA-456C-98A6-EDA1AC9FB0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18A71EB-D327-4458-85FB-26336B2BA0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0109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7DDB9-1B03-598B-641A-574737C1E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200" dirty="0"/>
              <a:t>Results </a:t>
            </a:r>
            <a:r>
              <a:rPr lang="en-US" sz="2000" dirty="0"/>
              <a:t>cont’d :   </a:t>
            </a:r>
            <a:r>
              <a:rPr lang="en-US" sz="3600" dirty="0"/>
              <a:t>Cluster 0: Essential Rentals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3E047B-EF3A-3F17-50EE-4BB1715669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4042233"/>
          </a:xfrm>
        </p:spPr>
        <p:txBody>
          <a:bodyPr numCol="1">
            <a:normAutofit fontScale="62500" lnSpcReduction="20000"/>
          </a:bodyPr>
          <a:lstStyle/>
          <a:p>
            <a:pPr>
              <a:lnSpc>
                <a:spcPct val="100000"/>
              </a:lnSpc>
              <a:buFont typeface="Wingdings" pitchFamily="2" charset="2"/>
              <a:buChar char="q"/>
            </a:pPr>
            <a:r>
              <a:rPr lang="en-US" sz="1800" dirty="0"/>
              <a:t>Larger cluster: 81,312 properties (82% of total); concurs with PCA analysis</a:t>
            </a:r>
          </a:p>
          <a:p>
            <a:pPr>
              <a:buFont typeface="Wingdings" pitchFamily="2" charset="2"/>
              <a:buChar char="q"/>
            </a:pPr>
            <a:r>
              <a:rPr lang="en-US" sz="1800" dirty="0"/>
              <a:t>Statistics:</a:t>
            </a:r>
          </a:p>
          <a:p>
            <a:pPr>
              <a:buFont typeface="Wingdings" pitchFamily="2" charset="2"/>
              <a:buChar char="Ø"/>
            </a:pPr>
            <a:r>
              <a:rPr lang="en-US" sz="1800" dirty="0"/>
              <a:t>Rental Price: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Average: $1,550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Median: $1,375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Maximum: $52,500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Minimum: $100</a:t>
            </a:r>
          </a:p>
          <a:p>
            <a:pPr>
              <a:buFont typeface="Wingdings" pitchFamily="2" charset="2"/>
              <a:buChar char="Ø"/>
            </a:pPr>
            <a:r>
              <a:rPr lang="en-US" sz="1800" dirty="0"/>
              <a:t>Square Footage: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Median: 905 sq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Maximum: 40,000 sq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Minimum: 101 sq</a:t>
            </a:r>
          </a:p>
          <a:p>
            <a:pPr>
              <a:buFont typeface="Wingdings" pitchFamily="2" charset="2"/>
              <a:buChar char="Ø"/>
            </a:pPr>
            <a:r>
              <a:rPr lang="en-US" sz="1800" dirty="0"/>
              <a:t>Luxury Amenities Count 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Median: 0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Maximum:: 4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Minimum : 0           </a:t>
            </a:r>
          </a:p>
          <a:p>
            <a:pPr>
              <a:buFont typeface="Wingdings" pitchFamily="2" charset="2"/>
              <a:buChar char="Ø"/>
            </a:pPr>
            <a:endParaRPr lang="en-US" sz="1600" dirty="0"/>
          </a:p>
          <a:p>
            <a:pPr marL="0" indent="0">
              <a:buNone/>
            </a:pPr>
            <a:endParaRPr lang="en-US" dirty="0"/>
          </a:p>
          <a:p>
            <a:pPr>
              <a:buFont typeface="Wingdings" pitchFamily="2" charset="2"/>
              <a:buChar char="Ø"/>
            </a:pP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9A9477-40A5-7AFC-3F0E-FB14BFDE57C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>
              <a:buFont typeface="Wingdings" pitchFamily="2" charset="2"/>
              <a:buChar char="q"/>
            </a:pPr>
            <a:r>
              <a:rPr lang="en-US" sz="1800" dirty="0"/>
              <a:t>Statistics:</a:t>
            </a:r>
          </a:p>
          <a:p>
            <a:pPr>
              <a:buFont typeface="Wingdings" pitchFamily="2" charset="2"/>
              <a:buChar char="Ø"/>
            </a:pPr>
            <a:r>
              <a:rPr lang="en-US" sz="1800" dirty="0"/>
              <a:t>Sports amenities count: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Median: 0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Maximum: 4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Minimum : 0           </a:t>
            </a:r>
          </a:p>
          <a:p>
            <a:pPr>
              <a:buFont typeface="Wingdings" pitchFamily="2" charset="2"/>
              <a:buChar char="Ø"/>
            </a:pPr>
            <a:r>
              <a:rPr lang="en-US" sz="1800" dirty="0"/>
              <a:t>Convenience Amenities count: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Median: 1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Maximum: 5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Minimum : 0             </a:t>
            </a:r>
          </a:p>
          <a:p>
            <a:pPr>
              <a:buFont typeface="Wingdings" pitchFamily="2" charset="2"/>
              <a:buChar char="Ø"/>
            </a:pPr>
            <a:r>
              <a:rPr lang="en-US" sz="1800" dirty="0"/>
              <a:t>Outdoor Amenities Count: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Median: 0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/>
              <a:t>Maximum: </a:t>
            </a:r>
            <a:r>
              <a:rPr lang="en-US" dirty="0"/>
              <a:t>3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Minimum: 0             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25997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7DDB9-1B03-598B-641A-574737C1E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200" dirty="0"/>
              <a:t>Results </a:t>
            </a:r>
            <a:r>
              <a:rPr lang="en-US" sz="2000" dirty="0"/>
              <a:t>cont’d    </a:t>
            </a:r>
            <a:r>
              <a:rPr lang="en-US" sz="3600" dirty="0"/>
              <a:t>Cluster 1: Amenity-Packed Rentals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3E047B-EF3A-3F17-50EE-4BB1715669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4042233"/>
          </a:xfrm>
        </p:spPr>
        <p:txBody>
          <a:bodyPr numCol="1">
            <a:normAutofit fontScale="62500" lnSpcReduction="20000"/>
          </a:bodyPr>
          <a:lstStyle/>
          <a:p>
            <a:pPr>
              <a:lnSpc>
                <a:spcPct val="100000"/>
              </a:lnSpc>
              <a:buFont typeface="Wingdings" pitchFamily="2" charset="2"/>
              <a:buChar char="q"/>
            </a:pPr>
            <a:r>
              <a:rPr lang="en-US" sz="1800" dirty="0"/>
              <a:t>Smaller cluster: 17,877 properties (18% of total); concurs with PCA analysis</a:t>
            </a:r>
          </a:p>
          <a:p>
            <a:pPr>
              <a:buFont typeface="Wingdings" pitchFamily="2" charset="2"/>
              <a:buChar char="q"/>
            </a:pPr>
            <a:r>
              <a:rPr lang="en-US" sz="1800" dirty="0"/>
              <a:t>Statistics:</a:t>
            </a:r>
          </a:p>
          <a:p>
            <a:pPr>
              <a:buFont typeface="Wingdings" pitchFamily="2" charset="2"/>
              <a:buChar char="Ø"/>
            </a:pPr>
            <a:r>
              <a:rPr lang="en-US" sz="1800" dirty="0"/>
              <a:t>Rental Price: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Average: $1,415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Median: $1,250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Maximum: $11,500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Minimum: $285</a:t>
            </a:r>
          </a:p>
          <a:p>
            <a:pPr>
              <a:buFont typeface="Wingdings" pitchFamily="2" charset="2"/>
              <a:buChar char="Ø"/>
            </a:pPr>
            <a:r>
              <a:rPr lang="en-US" sz="1800" dirty="0"/>
              <a:t>Square Footage: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Median: 880 sq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Maximum: 4,911 sq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Minimum: 116 sq</a:t>
            </a:r>
          </a:p>
          <a:p>
            <a:pPr>
              <a:buFont typeface="Wingdings" pitchFamily="2" charset="2"/>
              <a:buChar char="Ø"/>
            </a:pPr>
            <a:r>
              <a:rPr lang="en-US" sz="1800" dirty="0"/>
              <a:t>Luxury Amenities Count 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Median: 0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Maximum:: 4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Minimum : 0           </a:t>
            </a:r>
          </a:p>
          <a:p>
            <a:pPr>
              <a:buFont typeface="Wingdings" pitchFamily="2" charset="2"/>
              <a:buChar char="Ø"/>
            </a:pPr>
            <a:endParaRPr lang="en-US" sz="1600" dirty="0"/>
          </a:p>
          <a:p>
            <a:pPr marL="0" indent="0">
              <a:buNone/>
            </a:pPr>
            <a:endParaRPr lang="en-US" dirty="0"/>
          </a:p>
          <a:p>
            <a:pPr>
              <a:buFont typeface="Wingdings" pitchFamily="2" charset="2"/>
              <a:buChar char="Ø"/>
            </a:pP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9A9477-40A5-7AFC-3F0E-FB14BFDE57C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>
              <a:buFont typeface="Wingdings" pitchFamily="2" charset="2"/>
              <a:buChar char="q"/>
            </a:pPr>
            <a:r>
              <a:rPr lang="en-US" sz="1800" dirty="0"/>
              <a:t>Statistics:</a:t>
            </a:r>
          </a:p>
          <a:p>
            <a:pPr>
              <a:buFont typeface="Wingdings" pitchFamily="2" charset="2"/>
              <a:buChar char="Ø"/>
            </a:pPr>
            <a:r>
              <a:rPr lang="en-US" sz="1800" dirty="0"/>
              <a:t>Sports amenities count: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Median: 2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Maximum: 4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Minimum : 0           </a:t>
            </a:r>
          </a:p>
          <a:p>
            <a:pPr>
              <a:buFont typeface="Wingdings" pitchFamily="2" charset="2"/>
              <a:buChar char="Ø"/>
            </a:pPr>
            <a:r>
              <a:rPr lang="en-US" sz="1800" dirty="0"/>
              <a:t>Convenience Amenities count: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Median: 5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Maximum: 10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Minimum : 3             </a:t>
            </a:r>
          </a:p>
          <a:p>
            <a:pPr>
              <a:buFont typeface="Wingdings" pitchFamily="2" charset="2"/>
              <a:buChar char="Ø"/>
            </a:pPr>
            <a:r>
              <a:rPr lang="en-US" sz="1800" dirty="0"/>
              <a:t>Outdoor Amenities Count: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Median: 1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Maximum: 3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Minimum: 0             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47423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91F57C3-C01F-8882-524F-F05411F82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CCF2E2-45AD-8BEA-F7FC-1AB49B06CD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 typeface="Wingdings" pitchFamily="2" charset="2"/>
              <a:buChar char="q"/>
            </a:pPr>
            <a:r>
              <a:rPr lang="en-US" dirty="0"/>
              <a:t>American rental markets can be broken into 2 segments: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Cluster 0 (Essential Rentals): spacious apartments with fewer amenities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Cluster 1 (Amenity-Packed Rentals): smaller apartments with more amenities</a:t>
            </a:r>
          </a:p>
          <a:p>
            <a:pPr>
              <a:buFont typeface="Wingdings" pitchFamily="2" charset="2"/>
              <a:buChar char="q"/>
            </a:pPr>
            <a:r>
              <a:rPr lang="en-US" dirty="0"/>
              <a:t>Large metropolitan areas represent both segments based on neighborhoods</a:t>
            </a:r>
          </a:p>
          <a:p>
            <a:pPr>
              <a:buFont typeface="Wingdings" pitchFamily="2" charset="2"/>
              <a:buChar char="q"/>
            </a:pPr>
            <a:r>
              <a:rPr lang="en-US" dirty="0"/>
              <a:t>Cluster 1 (Amenity-Packed) properties are concentrated in the Northeast region</a:t>
            </a:r>
          </a:p>
          <a:p>
            <a:pPr>
              <a:buFont typeface="Wingdings" pitchFamily="2" charset="2"/>
              <a:buChar char="q"/>
            </a:pPr>
            <a:r>
              <a:rPr lang="en-US" dirty="0"/>
              <a:t>Some cities represent one segment exclusively: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San Diego, CA – predominantly Cluster 0 (91%)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South Boston, MA –</a:t>
            </a:r>
            <a:r>
              <a:rPr lang="en-US" sz="2100" dirty="0"/>
              <a:t> exclusively Cluster 1</a:t>
            </a:r>
          </a:p>
          <a:p>
            <a:pPr>
              <a:buFont typeface="Wingdings" pitchFamily="2" charset="2"/>
              <a:buChar char="q"/>
            </a:pPr>
            <a:endParaRPr lang="en-US" dirty="0"/>
          </a:p>
          <a:p>
            <a:pPr>
              <a:buFont typeface="Wingdings" pitchFamily="2" charset="2"/>
              <a:buChar char="q"/>
            </a:pPr>
            <a:endParaRPr lang="en-US" dirty="0"/>
          </a:p>
          <a:p>
            <a:pPr>
              <a:buFont typeface="Wingdings" pitchFamily="2" charset="2"/>
              <a:buChar char="q"/>
            </a:pPr>
            <a:endParaRPr lang="en-US" dirty="0"/>
          </a:p>
          <a:p>
            <a:pPr>
              <a:buFont typeface="Wingdings" pitchFamily="2" charset="2"/>
              <a:buChar char="q"/>
            </a:pPr>
            <a:endParaRPr lang="en-US" dirty="0"/>
          </a:p>
          <a:p>
            <a:pPr>
              <a:buFont typeface="Wingdings" pitchFamily="2" charset="2"/>
              <a:buChar char="q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3818357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Gallery">
    <a:dk1>
      <a:sysClr val="windowText" lastClr="000000"/>
    </a:dk1>
    <a:lt1>
      <a:sysClr val="window" lastClr="FFFFFF"/>
    </a:lt1>
    <a:dk2>
      <a:srgbClr val="454545"/>
    </a:dk2>
    <a:lt2>
      <a:srgbClr val="DFDBD5"/>
    </a:lt2>
    <a:accent1>
      <a:srgbClr val="B71E42"/>
    </a:accent1>
    <a:accent2>
      <a:srgbClr val="DE478E"/>
    </a:accent2>
    <a:accent3>
      <a:srgbClr val="BC72F0"/>
    </a:accent3>
    <a:accent4>
      <a:srgbClr val="795FAF"/>
    </a:accent4>
    <a:accent5>
      <a:srgbClr val="586EA6"/>
    </a:accent5>
    <a:accent6>
      <a:srgbClr val="6892A0"/>
    </a:accent6>
    <a:hlink>
      <a:srgbClr val="FA2B5C"/>
    </a:hlink>
    <a:folHlink>
      <a:srgbClr val="BC658E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3278</TotalTime>
  <Words>804</Words>
  <Application>Microsoft Macintosh PowerPoint</Application>
  <PresentationFormat>Widescreen</PresentationFormat>
  <Paragraphs>131</Paragraphs>
  <Slides>13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Courier New</vt:lpstr>
      <vt:lpstr>Gill Sans MT</vt:lpstr>
      <vt:lpstr>Wingdings</vt:lpstr>
      <vt:lpstr>Gallery</vt:lpstr>
      <vt:lpstr> Analysis of the U.S. Apartment Rental Market: Identifying Key Segments and Characteristics</vt:lpstr>
      <vt:lpstr>Overview</vt:lpstr>
      <vt:lpstr>Objectives</vt:lpstr>
      <vt:lpstr>Data Source </vt:lpstr>
      <vt:lpstr>Feature Engineering</vt:lpstr>
      <vt:lpstr>Machine Learning Methods</vt:lpstr>
      <vt:lpstr>Machine Learning Methods cont’d</vt:lpstr>
      <vt:lpstr>Machine Learning Methods cont’d</vt:lpstr>
      <vt:lpstr>Machine Learning Methods cont’d</vt:lpstr>
      <vt:lpstr>Results</vt:lpstr>
      <vt:lpstr>Results cont’d :   Cluster 0: Essential Rentals Analysis</vt:lpstr>
      <vt:lpstr>Results cont’d    Cluster 1: Amenity-Packed Rentals Analysis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4</dc:title>
  <dc:creator>Ella Ndalla</dc:creator>
  <cp:lastModifiedBy>Ella Ndalla</cp:lastModifiedBy>
  <cp:revision>9</cp:revision>
  <dcterms:created xsi:type="dcterms:W3CDTF">2023-11-24T21:59:57Z</dcterms:created>
  <dcterms:modified xsi:type="dcterms:W3CDTF">2026-03-12T22:08:00Z</dcterms:modified>
</cp:coreProperties>
</file>